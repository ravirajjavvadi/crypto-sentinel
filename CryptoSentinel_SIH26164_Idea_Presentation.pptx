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596b4db0154152" /><Relationship Type="http://schemas.openxmlformats.org/officeDocument/2006/relationships/extended-properties" Target="/docProps/app.xml" Id="R797b90ffa416476e" /><Relationship Type="http://schemas.openxmlformats.org/officeDocument/2006/relationships/officeDocument" Target="/ppt/presentation.xml" Id="Rc18f190960b74c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056e43e3381413d"/>
  </p:sldMasterIdLst>
  <p:notesMasterIdLst>
    <p:notesMasterId xmlns:r="http://schemas.openxmlformats.org/officeDocument/2006/relationships" r:id="R92a6e94842174be0"/>
  </p:notesMasterIdLst>
  <p:sldIdLst>
    <p:sldId xmlns:r="http://schemas.openxmlformats.org/officeDocument/2006/relationships" id="256" r:id="Rf965cd27b454491c"/>
    <p:sldId xmlns:r="http://schemas.openxmlformats.org/officeDocument/2006/relationships" id="257" r:id="R523c482fd3654fb5"/>
    <p:sldId xmlns:r="http://schemas.openxmlformats.org/officeDocument/2006/relationships" id="258" r:id="R43a945ccceb34a91"/>
    <p:sldId xmlns:r="http://schemas.openxmlformats.org/officeDocument/2006/relationships" id="259" r:id="R172bd43a0e6b4ed7"/>
    <p:sldId xmlns:r="http://schemas.openxmlformats.org/officeDocument/2006/relationships" id="260" r:id="R7c790906e0cc4f5e"/>
    <p:sldId xmlns:r="http://schemas.openxmlformats.org/officeDocument/2006/relationships" id="261" r:id="Rc2e6fbc2f98342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6564ec42b44e86" /><Relationship Type="http://schemas.openxmlformats.org/officeDocument/2006/relationships/slideMaster" Target="/ppt/slideMasters/slideMaster1.xml" Id="R6056e43e3381413d" /><Relationship Type="http://schemas.openxmlformats.org/officeDocument/2006/relationships/notesMaster" Target="/ppt/notesMasters/notesMaster1.xml" Id="R92a6e94842174be0" /><Relationship Type="http://schemas.openxmlformats.org/officeDocument/2006/relationships/presProps" Target="/ppt/presProps.xml" Id="Rfb41c8247b264e3e" /><Relationship Type="http://schemas.openxmlformats.org/officeDocument/2006/relationships/viewProps" Target="/ppt/viewProps.xml" Id="Ra0073a84172a4aef" /><Relationship Type="http://schemas.openxmlformats.org/officeDocument/2006/relationships/tableStyles" Target="/ppt/tableStyles.xml" Id="Raa48d1aea1034d1f" /><Relationship Type="http://schemas.openxmlformats.org/officeDocument/2006/relationships/slide" Target="/ppt/slides/slide1.xml" Id="Rf965cd27b454491c" /><Relationship Type="http://schemas.openxmlformats.org/officeDocument/2006/relationships/slide" Target="/ppt/slides/slide2.xml" Id="R523c482fd3654fb5" /><Relationship Type="http://schemas.openxmlformats.org/officeDocument/2006/relationships/slide" Target="/ppt/slides/slide3.xml" Id="R43a945ccceb34a91" /><Relationship Type="http://schemas.openxmlformats.org/officeDocument/2006/relationships/slide" Target="/ppt/slides/slide4.xml" Id="R172bd43a0e6b4ed7" /><Relationship Type="http://schemas.openxmlformats.org/officeDocument/2006/relationships/slide" Target="/ppt/slides/slide5.xml" Id="R7c790906e0cc4f5e" /><Relationship Type="http://schemas.openxmlformats.org/officeDocument/2006/relationships/slide" Target="/ppt/slides/slide6.xml" Id="Rc2e6fbc2f98342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c4ccb6d31294c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03ae6e22424e6c" /><Relationship Type="http://schemas.openxmlformats.org/officeDocument/2006/relationships/notesMaster" Target="/ppt/notesMasters/notesMaster1.xml" Id="R8f5ea13be5154f4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4c83cd15693471c" /><Relationship Type="http://schemas.openxmlformats.org/officeDocument/2006/relationships/notesMaster" Target="/ppt/notesMasters/notesMaster1.xml" Id="R48043b2aa4b240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9cd5ed6b6054534" /><Relationship Type="http://schemas.openxmlformats.org/officeDocument/2006/relationships/notesMaster" Target="/ppt/notesMasters/notesMaster1.xml" Id="R7a20cc9cf72041d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efa6e6577fa4f4f" /><Relationship Type="http://schemas.openxmlformats.org/officeDocument/2006/relationships/notesMaster" Target="/ppt/notesMasters/notesMaster1.xml" Id="Ra82a18ca78b141a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d8b289b56f4626" /><Relationship Type="http://schemas.openxmlformats.org/officeDocument/2006/relationships/notesMaster" Target="/ppt/notesMasters/notesMaster1.xml" Id="Rfc22836d6b7742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694164d20124a28" /><Relationship Type="http://schemas.openxmlformats.org/officeDocument/2006/relationships/notesMaster" Target="/ppt/notesMasters/notesMaster1.xml" Id="R1901de0868034f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 statement metadata: Smart India Hackathon 2026 problem statement list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https://www.nccoe.nist.gov/projects/building-blocks/post-quantum-cryptography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https://cyclonedx.org/capabilities/cbom/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https://semgrep.dev/docs/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https://tree-sitter.github.io/tree-sitter/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https://cyclonedx.org/capabilities/cbom/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https://cheatsheetseries.owasp.org/cheatsheets/Cryptographic_Storage_Cheat_Sheet.html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https://cheatsheetseries.owasp.org/cheatsheets/File_Upload_Cheat_Sheet.html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https://cheatsheetseries.owasp.org/cheatsheets/Server_Side_Request_Forgery_Prevention_Cheat_Sheet.html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https://www.cisa.gov/quantum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MVP figures shown on this slide are project validation targets, not measured production claims.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r>
              <a:t>[Sources]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https://csrc.nist.gov/projects/post-quantum-cryptography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https://www.nccoe.nist.gov/projects/building-blocks/post-quantum-cryptography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https://www.cisa.gov/quantum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https://cyclonedx.org/capabilities/cbom/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https://cheatsheetseries.owasp.org/cheatsheets/Cryptographic_Storage_Cheat_Sheet.html</a:t>
            </a:r>
            <a:endParaRPr/>
          </a:p>
          <a:p xmlns:a="http://schemas.openxmlformats.org/drawingml/2006/main">
            <a:pPr>
              <a:spcBef>
                <a:spcPct val="0"/>
              </a:spcBef>
              <a:buNone/>
            </a:pPr>
            <a:r>
              <a:t>https://www.nist.gov/cyberframework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330c1ec3a462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c0e3aeb64242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980d26ffa14dc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ebb1a1c9c441a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a0e5c28a1499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5b22b9daa454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e2df4850ea4a1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26fbe8a281474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55995273347f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a0f513f1a24ff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a58654401f4fbd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110B616-FA4D-446D-9300-F9C1FDAAC19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47CA448-9CE8-4BC8-A21C-C7C2AB92CE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092FD9-B62D-45E5-A193-B65DDBC9DEE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93D7575-7330-4E5D-97CA-530E681388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3B42200-C15B-4582-9E09-362BE284D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344E2B-CE16-415C-8D56-89566F656E4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AB02493-EF26-441A-BF1C-CC8D8E5755B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CF6124-3829-4EEC-AD29-9301802596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D1BE16-29CB-458F-BD9B-E239A253C1C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42931C-8E90-414B-A249-2EA2E8A42C6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0E4F59B-96CC-44C6-8E73-2C2B6194E8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13990F5-6DBA-4145-8D5E-7D98EE2D47D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4445830-BA0D-41C4-88B2-AD00C6EC9A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F27DECE-D5B8-420C-90CF-7AA19AE355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E0C4281-3A7E-4A1D-9046-ED36B0B115B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2736BA-9BB7-4822-BEE9-146FA513F0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16D955C-363F-4EFA-9682-1E92BC5BEB9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0BF0E2-33DB-4E8E-9EF0-87BFC0D0DCD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2AB9F94-3352-4132-B503-A1E5734851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89B12A5-9923-4BAF-BDB5-51A403C046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3024DE1-3C57-42E7-A17F-A06890FB0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98B8C49-340B-4EDE-9D5A-54EB0F632F0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0E9265B-D226-488D-BD55-171F6A54FAF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0DBDCE41-2EA3-40C5-9CD9-041C53C2995A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2ADDCF0-0498-4636-9F23-FA77D11EE7D3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6914254C-BA52-49EB-B5F0-5975343F3E5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3A7AAC6-8843-4D42-81E7-9408CB9A8C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6/2/2026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810560-109F-4112-B79F-5DC5951F5F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6985D5-CB38-4640-AEE3-EF27AD19AE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F80BE88-1A71-4F03-8F36-D950E1136BD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527CA8-A807-4123-8305-7815ACBAC2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6/2/2026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540E77-7869-4ACC-B2CC-593867B05E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1EC3891-5064-44B7-8954-B339ECC623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14907B2-08D9-4E91-8AC6-1CCB5703D9A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6/2/2026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7393E9F-C42C-44A5-9888-28DE66BE1C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7F9668F-BAFA-4024-8881-F29835AB3D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8F6150-AD7E-45D3-9EB1-D4D3100682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784FA73-0193-42B3-B24B-616AA39F819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358C91A-6847-4883-BED8-756C2AE5F1A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8DDF67-7743-44CC-B0DD-BD776F19218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26E7D46-5812-4D76-9181-DF59260C37D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4B05C6-DC02-439C-942D-2E8BD39A20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FF3C57-97FC-4DCD-90FD-2199509B06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59FA59E-A9BC-4347-81C1-EA387EB8F88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46B641A-CE34-4202-B2B1-7B6133CE0A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1A68893-1A25-4A35-BB43-6A416755FF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6/2/2026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ECB5EA-54F7-477C-9C4D-B617ACA8F9E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EA2174D-6506-4A68-AF09-2EAC53EE6AA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73F5E3E-5DCC-469A-9DB1-F96BE7F644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329FE2A-596A-4DF6-BC3C-25DEA6F6F2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B11C0A-D377-4757-A9FB-122AC689453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F27FAD-B976-4041-9B2B-5F6759EC90D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4542848-FF98-4C07-9055-9E5B515B83A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B529092-95D6-425E-9F4D-EC5D50F213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709ED7B-0EA4-4848-8D11-3411612B929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958B05B-A5BA-4D70-A31A-CEDE4DF15B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2A00B8-7ED5-4CCD-8F4D-ED79215D51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6BB346-2ECE-4E19-8DE8-9566262D485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36ab69fbb114720" /><Relationship Type="http://schemas.openxmlformats.org/officeDocument/2006/relationships/slideLayout" Target="/ppt/slideLayouts/slideLayout1.xml" Id="Rcad850bd9fdd4e10" /><Relationship Type="http://schemas.openxmlformats.org/officeDocument/2006/relationships/slideLayout" Target="/ppt/slideLayouts/slideLayout2.xml" Id="Rff630eeb6a9d412d" /><Relationship Type="http://schemas.openxmlformats.org/officeDocument/2006/relationships/slideLayout" Target="/ppt/slideLayouts/slideLayout3.xml" Id="R1c7866bd2c5749f4" /><Relationship Type="http://schemas.openxmlformats.org/officeDocument/2006/relationships/slideLayout" Target="/ppt/slideLayouts/slideLayout4.xml" Id="R5f653dca3b4e42d9" /><Relationship Type="http://schemas.openxmlformats.org/officeDocument/2006/relationships/slideLayout" Target="/ppt/slideLayouts/slideLayout5.xml" Id="R03259338e3f64254" /><Relationship Type="http://schemas.openxmlformats.org/officeDocument/2006/relationships/slideLayout" Target="/ppt/slideLayouts/slideLayout6.xml" Id="R1af29c92fbb643cc" /><Relationship Type="http://schemas.openxmlformats.org/officeDocument/2006/relationships/slideLayout" Target="/ppt/slideLayouts/slideLayout7.xml" Id="Rcb7f44b810754108" /><Relationship Type="http://schemas.openxmlformats.org/officeDocument/2006/relationships/slideLayout" Target="/ppt/slideLayouts/slideLayout8.xml" Id="Rf80b9f6f797c4f5e" /><Relationship Type="http://schemas.openxmlformats.org/officeDocument/2006/relationships/slideLayout" Target="/ppt/slideLayouts/slideLayout9.xml" Id="R4f65bb445dd543e8" /><Relationship Type="http://schemas.openxmlformats.org/officeDocument/2006/relationships/slideLayout" Target="/ppt/slideLayouts/slideLayout10.xml" Id="R3f0f60cec34b424a" /><Relationship Type="http://schemas.openxmlformats.org/officeDocument/2006/relationships/slideLayout" Target="/ppt/slideLayouts/slideLayout11.xml" Id="R98bfe785523644d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4966EFF3-AA99-4F20-9541-FDF59EE4BF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66A37A4-7EFD-4E9C-99F2-236857667F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67FB55-52CD-4901-8EE0-392D64EB3A1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6/2/2026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649B853-E772-4681-843C-DA8AD0A4605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BFF985-0783-4751-ACEC-46F5F503D34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d850bd9fdd4e10"/>
    <p:sldLayoutId xmlns:r="http://schemas.openxmlformats.org/officeDocument/2006/relationships" id="2147483650" r:id="Rff630eeb6a9d412d"/>
    <p:sldLayoutId xmlns:r="http://schemas.openxmlformats.org/officeDocument/2006/relationships" id="2147483651" r:id="R1c7866bd2c5749f4"/>
    <p:sldLayoutId xmlns:r="http://schemas.openxmlformats.org/officeDocument/2006/relationships" id="2147483652" r:id="R5f653dca3b4e42d9"/>
    <p:sldLayoutId xmlns:r="http://schemas.openxmlformats.org/officeDocument/2006/relationships" id="2147483653" r:id="R03259338e3f64254"/>
    <p:sldLayoutId xmlns:r="http://schemas.openxmlformats.org/officeDocument/2006/relationships" id="2147483654" r:id="R1af29c92fbb643cc"/>
    <p:sldLayoutId xmlns:r="http://schemas.openxmlformats.org/officeDocument/2006/relationships" id="2147483655" r:id="Rcb7f44b810754108"/>
    <p:sldLayoutId xmlns:r="http://schemas.openxmlformats.org/officeDocument/2006/relationships" id="2147483656" r:id="Rf80b9f6f797c4f5e"/>
    <p:sldLayoutId xmlns:r="http://schemas.openxmlformats.org/officeDocument/2006/relationships" id="2147483657" r:id="R4f65bb445dd543e8"/>
    <p:sldLayoutId xmlns:r="http://schemas.openxmlformats.org/officeDocument/2006/relationships" id="2147483658" r:id="R3f0f60cec34b424a"/>
    <p:sldLayoutId xmlns:r="http://schemas.openxmlformats.org/officeDocument/2006/relationships" id="2147483659" r:id="R98bfe785523644df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28522738147ce" /><Relationship Type="http://schemas.openxmlformats.org/officeDocument/2006/relationships/image" Target="/ppt/media/image.png" Id="R0e484b9d75574ed3" /><Relationship Type="http://schemas.openxmlformats.org/officeDocument/2006/relationships/image" Target="/ppt/media/image2.png" Id="R0fd2d21531f441da" /><Relationship Type="http://schemas.openxmlformats.org/officeDocument/2006/relationships/notesSlide" Target="/ppt/notesSlides/notesSlide1.xml" Id="Rc28580a86a744e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1abf9574f649b9" /><Relationship Type="http://schemas.openxmlformats.org/officeDocument/2006/relationships/image" Target="/ppt/media/image2.png" Id="R244f41de0eae4794" /><Relationship Type="http://schemas.openxmlformats.org/officeDocument/2006/relationships/notesSlide" Target="/ppt/notesSlides/notesSlide2.xml" Id="R609bae4a576c48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480aa2c10b4948" /><Relationship Type="http://schemas.openxmlformats.org/officeDocument/2006/relationships/image" Target="/ppt/media/image2.png" Id="Ra984baff7225480d" /><Relationship Type="http://schemas.openxmlformats.org/officeDocument/2006/relationships/notesSlide" Target="/ppt/notesSlides/notesSlide3.xml" Id="R60898e7e67da4a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f26ce727be47cb" /><Relationship Type="http://schemas.openxmlformats.org/officeDocument/2006/relationships/image" Target="/ppt/media/image2.png" Id="Rd0f737db3f8f491e" /><Relationship Type="http://schemas.openxmlformats.org/officeDocument/2006/relationships/notesSlide" Target="/ppt/notesSlides/notesSlide4.xml" Id="Rbb43754c0c69467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9bcc60629140ea" /><Relationship Type="http://schemas.openxmlformats.org/officeDocument/2006/relationships/image" Target="/ppt/media/image2.png" Id="Ref3dab32aada4a32" /><Relationship Type="http://schemas.openxmlformats.org/officeDocument/2006/relationships/notesSlide" Target="/ppt/notesSlides/notesSlide5.xml" Id="R327efb0eb8674d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b8ece08e3dc4c5d" /><Relationship Type="http://schemas.openxmlformats.org/officeDocument/2006/relationships/image" Target="/ppt/media/image2.png" Id="R2f32b7d351c748b5" /><Relationship Type="http://schemas.openxmlformats.org/officeDocument/2006/relationships/notesSlide" Target="/ppt/notesSlides/notesSlide6.xml" Id="R9df9332a184a4b6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36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E443FD7-A66B-4AA0-872D-B088B9B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144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Freeform: Shape 26">
            <a:extLst xmlns:a="http://schemas.openxmlformats.org/drawingml/2006/main">
              <a:ext uri="{FF2B5EF4-FFF2-40B4-BE49-F238E27FC236}">
                <a16:creationId xmlns:a16="http://schemas.microsoft.com/office/drawing/2014/main" id="{C04BE0EF-3561-49B4-9A29-F283168A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6780" y="851521"/>
            <a:ext cx="4638605" cy="5154967"/>
          </a:xfrm>
          <a:custGeom xmlns:a="http://schemas.openxmlformats.org/drawingml/2006/main"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lumMod val="50000"/>
              <a:lumOff val="50000"/>
              <a:alpha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43" name="Picture 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e484b9d75574ed3"/>
          <a:srcRect xmlns:a="http://schemas.openxmlformats.org/drawingml/2006/main" l="0" t="0" r="59916" b="0"/>
          <a:stretch xmlns:a="http://schemas.openxmlformats.org/drawingml/2006/main"/>
        </p:blipFill>
        <p:spPr>
          <a:xfrm xmlns:a="http://schemas.openxmlformats.org/drawingml/2006/main">
            <a:off x="6854891" y="1715881"/>
            <a:ext cx="3203509" cy="3426237"/>
          </a:xfrm>
          <a:prstGeom xmlns:a="http://schemas.openxmlformats.org/drawingml/2006/main" prst="rect">
            <a:avLst/>
          </a:prstGeom>
        </p:spPr>
      </p:pic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BD6EC2EE-F6DA-4DCC-8159-568F250D90F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45686" y="648614"/>
            <a:ext cx="85344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TITLE PAGE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8C2B0256-0F8C-495F-9831-E821C99B4B0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31286" y="-526757"/>
            <a:ext cx="10363200" cy="20764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SMART INDIA HACKATHON </a:t>
            </a:r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2026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12A177-0CF2-4014-8D3B-1D167115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5953125" cy="304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47625" rIns="76200" bIns="47625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Problem Statement ID – </a:t>
            </a: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SIH26164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Problem Statement Title – </a:t>
            </a: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Enterprise Cryptographic Discovery &amp; Analysis Tool (ECDAT)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Theme – </a:t>
            </a: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Blockchain &amp; Cybersecurity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PS Category – </a:t>
            </a: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Software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 ID – </a:t>
            </a: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[ENTER TEAM ID]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 Name – </a:t>
            </a:r>
            <a:r>
              <a:rPr sz="1425">
                <a:solidFill>
                  <a:srgbClr val="17212B"/>
                </a:solidFill>
                <a:latin typeface="Arial"/>
                <a:ea typeface="Arial"/>
                <a:cs typeface="Arial"/>
              </a:rPr>
              <a:t>[ENTER REGISTERED TEAM NAME]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Solution – </a:t>
            </a:r>
            <a:r>
              <a:rPr sz="142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CryptoSentinel</a:t>
            </a:r>
          </a:p>
          <a:p xmlns:a="http://schemas.openxmlformats.org/drawingml/2006/main">
            <a:pPr>
              <a:lnSpc>
                <a:spcPct val="112000"/>
              </a:lnSpc>
              <a:buNone/>
              <a:defRPr sz="142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i="1">
                <a:solidFill>
                  <a:srgbClr val="17212B"/>
                </a:solidFill>
                <a:latin typeface="Arial"/>
                <a:ea typeface="Arial"/>
                <a:cs typeface="Arial"/>
              </a:rPr>
              <a:t>Enterprise Cryptographic Intelligence &amp; Quantum-Readiness Platform</a:t>
            </a:r>
          </a:p>
        </p:txBody>
      </p:sp>
      <p:pic>
        <p:nvPicPr>
          <p:cNvPr id="47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2d21531f441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40" name="title-value">
            <a:extLst xmlns:a="http://schemas.openxmlformats.org/drawingml/2006/main">
              <a:ext uri="{FF2B5EF4-FFF2-40B4-BE49-F238E27FC236}">
                <a16:creationId xmlns:a16="http://schemas.microsoft.com/office/drawing/2014/main" id="{F7FBFAF2-6840-4708-B80E-61601D9A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5857875" cy="8763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66675" rIns="952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DISCOVER  •  MAP  •  PRIORITISE  •  MIGRATE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Enterprise web dashboard + VS Code extension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70"/>
                </a:solidFill>
                <a:latin typeface="Arial"/>
                <a:ea typeface="Arial"/>
                <a:cs typeface="Arial"/>
              </a:rPr>
              <a:t>One connected path from hidden crypto usage to an actionable quantum-migration roadmap.</a:t>
            </a:r>
          </a:p>
        </p:txBody>
      </p:sp>
    </p:spTree>
    <p:extLst>
      <p:ext uri="{BB962C8B-B14F-4D97-AF65-F5344CB8AC3E}">
        <p14:creationId xmlns:p14="http://schemas.microsoft.com/office/powerpoint/2010/main" val="123242146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1EB859B-FC45-4721-A983-C68A61AC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57C40645-F407-44F9-88C7-E40F6B10A1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/>
            </a:r>
            <a:br/>
            <a:r>
              <a:rPr sz="3600" b="1">
                <a:latin typeface="Times New Roman"/>
                <a:ea typeface="Times New Roman"/>
                <a:cs typeface="Times New Roman"/>
              </a:rPr>
              <a:t>IDEA TITLE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2EBD25-C830-4938-91A1-2977697C30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6F107E97-EEEC-47EF-8A47-D4F3550A1FF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</a:t>
            </a:r>
            <a:endParaRPr/>
          </a:p>
        </p:txBody>
      </p:sp>
      <p:pic>
        <p:nvPicPr>
          <p:cNvPr id="1538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4f41de0eae47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5364" name="idea-subtitle">
            <a:extLst xmlns:a="http://schemas.openxmlformats.org/drawingml/2006/main">
              <a:ext uri="{FF2B5EF4-FFF2-40B4-BE49-F238E27FC236}">
                <a16:creationId xmlns:a16="http://schemas.microsoft.com/office/drawing/2014/main" id="{43A42701-150F-476C-9FC5-0DA8EBA3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239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725" b="1">
                <a:solidFill>
                  <a:srgbClr val="0B4F8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CryptoSentinel — Enterprise Cryptographic Intelligence &amp; Quantum-Readiness Platform</a:t>
            </a:r>
          </a:p>
        </p:txBody>
      </p:sp>
      <p:sp>
        <p:nvSpPr>
          <p:cNvPr id="15365" name="idea-problem">
            <a:extLst xmlns:a="http://schemas.openxmlformats.org/drawingml/2006/main">
              <a:ext uri="{FF2B5EF4-FFF2-40B4-BE49-F238E27FC236}">
                <a16:creationId xmlns:a16="http://schemas.microsoft.com/office/drawing/2014/main" id="{AC266657-BE55-43E5-A53F-55573B18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95450"/>
            <a:ext cx="4476750" cy="2628900"/>
          </a:xfrm>
          <a:prstGeom xmlns:a="http://schemas.openxmlformats.org/drawingml/2006/main" prst="roundRect">
            <a:avLst>
              <a:gd name="adj" fmla="val 362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8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88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THE VISIBILITY GAP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8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7212B"/>
                </a:solidFill>
                <a:latin typeface="Arial"/>
                <a:ea typeface="Arial"/>
                <a:cs typeface="Arial"/>
              </a:rPr>
              <a:t>Cryptography is scattered across code, libraries, APIs, certificates and services.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8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7212B"/>
                </a:solidFill>
                <a:latin typeface="Arial"/>
                <a:ea typeface="Arial"/>
                <a:cs typeface="Arial"/>
              </a:rPr>
              <a:t>No single inventory shows algorithm, purpose, owner, location and dependencies.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8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7212B"/>
                </a:solidFill>
                <a:latin typeface="Arial"/>
                <a:ea typeface="Arial"/>
                <a:cs typeface="Arial"/>
              </a:rPr>
              <a:t>MD5/SHA-1/DES, weak key sizes and unsafe configurations can remain hidden.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8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7212B"/>
                </a:solidFill>
                <a:latin typeface="Arial"/>
                <a:ea typeface="Arial"/>
                <a:cs typeface="Arial"/>
              </a:rPr>
              <a:t>Certificate expiry or migration changes can interrupt dependent services.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88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88">
                <a:solidFill>
                  <a:srgbClr val="17212B"/>
                </a:solidFill>
                <a:latin typeface="Arial"/>
                <a:ea typeface="Arial"/>
                <a:cs typeface="Arial"/>
              </a:rPr>
              <a:t>RSA/ECC exposure requires an evidence-based post-quantum transition plan.</a:t>
            </a:r>
          </a:p>
        </p:txBody>
      </p:sp>
      <p:sp>
        <p:nvSpPr>
          <p:cNvPr id="15366" name="idea-arrow-1">
            <a:extLst xmlns:a="http://schemas.openxmlformats.org/drawingml/2006/main">
              <a:ext uri="{FF2B5EF4-FFF2-40B4-BE49-F238E27FC236}">
                <a16:creationId xmlns:a16="http://schemas.microsoft.com/office/drawing/2014/main" id="{3FFB90A2-37D1-40E3-AFDD-043ABA9E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962150"/>
            <a:ext cx="4000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5367" name="idea-arrow-2">
            <a:extLst xmlns:a="http://schemas.openxmlformats.org/drawingml/2006/main">
              <a:ext uri="{FF2B5EF4-FFF2-40B4-BE49-F238E27FC236}">
                <a16:creationId xmlns:a16="http://schemas.microsoft.com/office/drawing/2014/main" id="{28DFCC78-73EB-4912-B243-B6AFAFE26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62150"/>
            <a:ext cx="4000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5368" name="idea-arrow-3">
            <a:extLst xmlns:a="http://schemas.openxmlformats.org/drawingml/2006/main">
              <a:ext uri="{FF2B5EF4-FFF2-40B4-BE49-F238E27FC236}">
                <a16:creationId xmlns:a16="http://schemas.microsoft.com/office/drawing/2014/main" id="{E3F89C38-6F4E-4D52-A232-A539E700B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62150"/>
            <a:ext cx="4000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5369" name="idea-step-1">
            <a:extLst xmlns:a="http://schemas.openxmlformats.org/drawingml/2006/main">
              <a:ext uri="{FF2B5EF4-FFF2-40B4-BE49-F238E27FC236}">
                <a16:creationId xmlns:a16="http://schemas.microsoft.com/office/drawing/2014/main" id="{AF4D35FB-00CE-4050-A844-7EE86DF22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9545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DISCOVER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Code • TLS • Certs</a:t>
            </a:r>
          </a:p>
        </p:txBody>
      </p:sp>
      <p:sp>
        <p:nvSpPr>
          <p:cNvPr id="15370" name="idea-step-2">
            <a:extLst xmlns:a="http://schemas.openxmlformats.org/drawingml/2006/main">
              <a:ext uri="{FF2B5EF4-FFF2-40B4-BE49-F238E27FC236}">
                <a16:creationId xmlns:a16="http://schemas.microsoft.com/office/drawing/2014/main" id="{718E6E8D-AD4D-4CF5-A817-C52FB6AE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9545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7B5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7B5"/>
                </a:solidFill>
                <a:latin typeface="Arial"/>
                <a:ea typeface="Arial"/>
                <a:cs typeface="Arial"/>
              </a:rPr>
              <a:t>BUILD CBOM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Crypto inventory</a:t>
            </a:r>
          </a:p>
        </p:txBody>
      </p:sp>
      <p:sp>
        <p:nvSpPr>
          <p:cNvPr id="15371" name="idea-step-3">
            <a:extLst xmlns:a="http://schemas.openxmlformats.org/drawingml/2006/main">
              <a:ext uri="{FF2B5EF4-FFF2-40B4-BE49-F238E27FC236}">
                <a16:creationId xmlns:a16="http://schemas.microsoft.com/office/drawing/2014/main" id="{B99E18AB-04D0-43E6-B2B6-1C0FA62C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695450"/>
            <a:ext cx="1190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MAP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Dependencies</a:t>
            </a:r>
          </a:p>
        </p:txBody>
      </p:sp>
      <p:sp>
        <p:nvSpPr>
          <p:cNvPr id="15372" name="idea-step-4">
            <a:extLst xmlns:a="http://schemas.openxmlformats.org/drawingml/2006/main">
              <a:ext uri="{FF2B5EF4-FFF2-40B4-BE49-F238E27FC236}">
                <a16:creationId xmlns:a16="http://schemas.microsoft.com/office/drawing/2014/main" id="{9387ACCD-278D-4C6B-A68A-32944CE1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1695450"/>
            <a:ext cx="1381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ACT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Score + roadmap</a:t>
            </a:r>
          </a:p>
        </p:txBody>
      </p:sp>
      <p:sp>
        <p:nvSpPr>
          <p:cNvPr id="15373" name="idea-capabilities">
            <a:extLst xmlns:a="http://schemas.openxmlformats.org/drawingml/2006/main">
              <a:ext uri="{FF2B5EF4-FFF2-40B4-BE49-F238E27FC236}">
                <a16:creationId xmlns:a16="http://schemas.microsoft.com/office/drawing/2014/main" id="{302230A0-4EF3-4557-9BD8-4C3C85DCE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6267450" cy="1657350"/>
          </a:xfrm>
          <a:prstGeom xmlns:a="http://schemas.openxmlformats.org/drawingml/2006/main" prst="roundRect">
            <a:avLst>
              <a:gd name="adj" fmla="val 5747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6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6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ONE CONNECTED SOLUTION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6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7212B"/>
                </a:solidFill>
                <a:latin typeface="Arial"/>
                <a:ea typeface="Arial"/>
                <a:cs typeface="Arial"/>
              </a:rPr>
              <a:t>Web dashboard for organization-wide discovery, governance and reports.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6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7212B"/>
                </a:solidFill>
                <a:latin typeface="Arial"/>
                <a:ea typeface="Arial"/>
                <a:cs typeface="Arial"/>
              </a:rPr>
              <a:t>VS Code extension for inline warnings, explanations and safer alternatives.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6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7212B"/>
                </a:solidFill>
                <a:latin typeface="Arial"/>
                <a:ea typeface="Arial"/>
                <a:cs typeface="Arial"/>
              </a:rPr>
              <a:t>CBOM records algorithm, key size, certificate, usage, owner and evidence.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6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7212B"/>
                </a:solidFill>
                <a:latin typeface="Arial"/>
                <a:ea typeface="Arial"/>
                <a:cs typeface="Arial"/>
              </a:rPr>
              <a:t>Dependency graph reveals applications and services affected by each asset.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6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7212B"/>
                </a:solidFill>
                <a:latin typeface="Arial"/>
                <a:ea typeface="Arial"/>
                <a:cs typeface="Arial"/>
              </a:rPr>
              <a:t>Explainable risk engine combines crypto strength, context, exposure and business criticality.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6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60">
                <a:solidFill>
                  <a:srgbClr val="17212B"/>
                </a:solidFill>
                <a:latin typeface="Arial"/>
                <a:ea typeface="Arial"/>
                <a:cs typeface="Arial"/>
              </a:rPr>
              <a:t>Migration planner prioritizes what to replace first without breaking dependent services.</a:t>
            </a:r>
          </a:p>
        </p:txBody>
      </p:sp>
      <p:sp>
        <p:nvSpPr>
          <p:cNvPr id="15374" name="idea-uniqueness">
            <a:extLst xmlns:a="http://schemas.openxmlformats.org/drawingml/2006/main">
              <a:ext uri="{FF2B5EF4-FFF2-40B4-BE49-F238E27FC236}">
                <a16:creationId xmlns:a16="http://schemas.microsoft.com/office/drawing/2014/main" id="{FC3DFA1D-14CB-4D83-B973-A299C579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108394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13335">
            <a:solidFill>
              <a:srgbClr val="F28C28"/>
            </a:solidFill>
            <a:prstDash val="solid"/>
          </a:ln>
        </p:spPr>
        <p:txBody>
          <a:bodyPr xmlns:a="http://schemas.openxmlformats.org/drawingml/2006/main" lIns="133350" tIns="95250" rIns="1333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WHY IT IS DIFFERENT</a:t>
            </a:r>
          </a:p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17212B"/>
                </a:solidFill>
                <a:latin typeface="Arial"/>
                <a:ea typeface="Arial"/>
                <a:cs typeface="Arial"/>
              </a:rPr>
              <a:t>Conventional tools report isolated vulnerabilities. CryptoSentinel answers: </a:t>
            </a: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Where is cryptography used? What depends on it? What is the business impact? What should migrate first—and why?</a:t>
            </a:r>
          </a:p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Outputs: CBOM • Crypto Dependency Graph • Quantum-Readiness Score • Prioritized Migration Roadmap</a:t>
            </a:r>
          </a:p>
          <a:p xmlns:a="http://schemas.openxmlformats.org/drawingml/2006/main">
            <a:pPr>
              <a:defRPr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DISCOVER  →  UNDERSTAND  →  DECIDE  →  MIGRATE</a:t>
            </a:r>
          </a:p>
        </p:txBody>
      </p:sp>
    </p:spTree>
    <p:extLst>
      <p:ext uri="{BB962C8B-B14F-4D97-AF65-F5344CB8AC3E}">
        <p14:creationId xmlns:p14="http://schemas.microsoft.com/office/powerpoint/2010/main" val="8895525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>
                  <a:lumMod val="75000"/>
                </a:schemeClr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7516CA9A-B131-493C-B398-0FEE221553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0"/>
            <a:ext cx="10972800" cy="10953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D0F5B0D-D9D6-42E6-AD7A-1D37C11C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8158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DA8D02B-BE06-442E-B0D6-80639B0756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262A4D0-F5D4-4A35-9E63-801DEBFE0B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</a:t>
            </a:r>
            <a:endParaRPr/>
          </a:p>
        </p:txBody>
      </p:sp>
      <p:pic>
        <p:nvPicPr>
          <p:cNvPr id="1743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4baff722548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tech-subtitle">
            <a:extLst xmlns:a="http://schemas.openxmlformats.org/drawingml/2006/main">
              <a:ext uri="{FF2B5EF4-FFF2-40B4-BE49-F238E27FC236}">
                <a16:creationId xmlns:a16="http://schemas.microsoft.com/office/drawing/2014/main" id="{E7FAF3FC-0AF5-4FAA-8067-EBFBC0E71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049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B4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A shared intelligence engine powers both enterprise governance and developer prevention</a:t>
            </a:r>
          </a:p>
        </p:txBody>
      </p:sp>
      <p:sp>
        <p:nvSpPr>
          <p:cNvPr id="17413" name="tech-arrow-1">
            <a:extLst xmlns:a="http://schemas.openxmlformats.org/drawingml/2006/main">
              <a:ext uri="{FF2B5EF4-FFF2-40B4-BE49-F238E27FC236}">
                <a16:creationId xmlns:a16="http://schemas.microsoft.com/office/drawing/2014/main" id="{4875D052-E8EE-4498-924E-FABF1AAAB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050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4" name="tech-arrow-2">
            <a:extLst xmlns:a="http://schemas.openxmlformats.org/drawingml/2006/main">
              <a:ext uri="{FF2B5EF4-FFF2-40B4-BE49-F238E27FC236}">
                <a16:creationId xmlns:a16="http://schemas.microsoft.com/office/drawing/2014/main" id="{39899FF8-004E-40EE-B9D3-AF02BB1E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5" name="tech-arrow-3">
            <a:extLst xmlns:a="http://schemas.openxmlformats.org/drawingml/2006/main">
              <a:ext uri="{FF2B5EF4-FFF2-40B4-BE49-F238E27FC236}">
                <a16:creationId xmlns:a16="http://schemas.microsoft.com/office/drawing/2014/main" id="{84D241D5-C125-44D6-AD08-A7112512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050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6" name="tech-arrow-4">
            <a:extLst xmlns:a="http://schemas.openxmlformats.org/drawingml/2006/main">
              <a:ext uri="{FF2B5EF4-FFF2-40B4-BE49-F238E27FC236}">
                <a16:creationId xmlns:a16="http://schemas.microsoft.com/office/drawing/2014/main" id="{AC745143-3019-4BB4-B379-2B0603AE1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05000"/>
            <a:ext cx="3810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7" name="tech-step-1">
            <a:extLst xmlns:a="http://schemas.openxmlformats.org/drawingml/2006/main">
              <a:ext uri="{FF2B5EF4-FFF2-40B4-BE49-F238E27FC236}">
                <a16:creationId xmlns:a16="http://schemas.microsoft.com/office/drawing/2014/main" id="{9703E5B7-7EA5-42CE-BCA8-E0102ED7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09725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INPUTS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Repo • Cert • Domain</a:t>
            </a:r>
          </a:p>
        </p:txBody>
      </p:sp>
      <p:sp>
        <p:nvSpPr>
          <p:cNvPr id="17418" name="tech-step-2">
            <a:extLst xmlns:a="http://schemas.openxmlformats.org/drawingml/2006/main">
              <a:ext uri="{FF2B5EF4-FFF2-40B4-BE49-F238E27FC236}">
                <a16:creationId xmlns:a16="http://schemas.microsoft.com/office/drawing/2014/main" id="{2C0A0D9F-2022-4951-B036-7FCFB69F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09725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7B5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7B5"/>
                </a:solidFill>
                <a:latin typeface="Arial"/>
                <a:ea typeface="Arial"/>
                <a:cs typeface="Arial"/>
              </a:rPr>
              <a:t>SECURE API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Auth • Queue • Isolation</a:t>
            </a:r>
          </a:p>
        </p:txBody>
      </p:sp>
      <p:sp>
        <p:nvSpPr>
          <p:cNvPr id="17419" name="tech-step-3">
            <a:extLst xmlns:a="http://schemas.openxmlformats.org/drawingml/2006/main">
              <a:ext uri="{FF2B5EF4-FFF2-40B4-BE49-F238E27FC236}">
                <a16:creationId xmlns:a16="http://schemas.microsoft.com/office/drawing/2014/main" id="{50812EE8-5C16-4B4D-9DE8-CFF11F97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09725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DISCOVERY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Rules • AST • Deps • TLS</a:t>
            </a:r>
          </a:p>
        </p:txBody>
      </p:sp>
      <p:sp>
        <p:nvSpPr>
          <p:cNvPr id="17420" name="tech-step-4">
            <a:extLst xmlns:a="http://schemas.openxmlformats.org/drawingml/2006/main">
              <a:ext uri="{FF2B5EF4-FFF2-40B4-BE49-F238E27FC236}">
                <a16:creationId xmlns:a16="http://schemas.microsoft.com/office/drawing/2014/main" id="{FADAB0CD-6ACC-49B9-81FA-11263FAB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9725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INTELLIGENCE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Context • Graph • Risk</a:t>
            </a:r>
          </a:p>
        </p:txBody>
      </p:sp>
      <p:sp>
        <p:nvSpPr>
          <p:cNvPr id="17421" name="tech-step-5">
            <a:extLst xmlns:a="http://schemas.openxmlformats.org/drawingml/2006/main">
              <a:ext uri="{FF2B5EF4-FFF2-40B4-BE49-F238E27FC236}">
                <a16:creationId xmlns:a16="http://schemas.microsoft.com/office/drawing/2014/main" id="{D9BCE765-8086-4E31-BEAD-1BBBD7F8B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09725"/>
            <a:ext cx="1952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OUTPUTS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CBOM • Score • Roadmap</a:t>
            </a:r>
          </a:p>
        </p:txBody>
      </p:sp>
      <p:sp>
        <p:nvSpPr>
          <p:cNvPr id="17422" name="tech-method">
            <a:extLst xmlns:a="http://schemas.openxmlformats.org/drawingml/2006/main">
              <a:ext uri="{FF2B5EF4-FFF2-40B4-BE49-F238E27FC236}">
                <a16:creationId xmlns:a16="http://schemas.microsoft.com/office/drawing/2014/main" id="{97F287D6-0F12-49E6-AE79-7DED0C0E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5381625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0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0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IMPLEMENTATION METHOD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0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05">
                <a:solidFill>
                  <a:srgbClr val="17212B"/>
                </a:solidFill>
                <a:latin typeface="Arial"/>
                <a:ea typeface="Arial"/>
                <a:cs typeface="Arial"/>
              </a:rPr>
              <a:t>Validate authorization; shallow-clone or upload the selected asset.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0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05">
                <a:solidFill>
                  <a:srgbClr val="17212B"/>
                </a:solidFill>
                <a:latin typeface="Arial"/>
                <a:ea typeface="Arial"/>
                <a:cs typeface="Arial"/>
              </a:rPr>
              <a:t>Identify languages, manifests, certificates and crypto-related files.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0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05">
                <a:solidFill>
                  <a:srgbClr val="17212B"/>
                </a:solidFill>
                <a:latin typeface="Arial"/>
                <a:ea typeface="Arial"/>
                <a:cs typeface="Arial"/>
              </a:rPr>
              <a:t>Detect patterns and confirm active crypto calls through AST analysis.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0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05">
                <a:solidFill>
                  <a:srgbClr val="17212B"/>
                </a:solidFill>
                <a:latin typeface="Arial"/>
                <a:ea typeface="Arial"/>
                <a:cs typeface="Arial"/>
              </a:rPr>
              <a:t>Inspect libraries, lock files, certificate metadata and TLS configuration.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0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05">
                <a:solidFill>
                  <a:srgbClr val="17212B"/>
                </a:solidFill>
                <a:latin typeface="Arial"/>
                <a:ea typeface="Arial"/>
                <a:cs typeface="Arial"/>
              </a:rPr>
              <a:t>Normalize, deduplicate and classify purpose: hashing, encryption, signing or key exchange.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0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05">
                <a:solidFill>
                  <a:srgbClr val="17212B"/>
                </a:solidFill>
                <a:latin typeface="Arial"/>
                <a:ea typeface="Arial"/>
                <a:cs typeface="Arial"/>
              </a:rPr>
              <a:t>Prioritize using weakness + exposure + dependency + business criticality + quantum risk.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0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05">
                <a:solidFill>
                  <a:srgbClr val="17212B"/>
                </a:solidFill>
                <a:latin typeface="Arial"/>
                <a:ea typeface="Arial"/>
                <a:cs typeface="Arial"/>
              </a:rPr>
              <a:t>Generate evidence, CBOM, graph, readiness score and migration actions.</a:t>
            </a:r>
          </a:p>
        </p:txBody>
      </p:sp>
      <p:sp>
        <p:nvSpPr>
          <p:cNvPr id="17423" name="tech-stack">
            <a:extLst xmlns:a="http://schemas.openxmlformats.org/drawingml/2006/main">
              <a:ext uri="{FF2B5EF4-FFF2-40B4-BE49-F238E27FC236}">
                <a16:creationId xmlns:a16="http://schemas.microsoft.com/office/drawing/2014/main" id="{EC40D493-7274-462B-9EF8-662A2A40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24150"/>
            <a:ext cx="5334000" cy="21336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TECHNOLOGY STACK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Web: Next.js, TypeScript, Tailwind CSS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Extension: TypeScript + VS Code API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API: FastAPI; Auth: JWT/session + role-based access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Data: PostgreSQL; Graph: Neo4j; Jobs: Redis/Celery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Analysis: Semgrep, Tree-sitter, Gitleaks, Trivy, OpenSSL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Isolation: Docker sandbox with temporary scan workspace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Output: CycloneDX-compatible CBOM, JSON, PDF and dashboard alerts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Integration: GitHub/GitLab and CI/CD pipeline adapters</a:t>
            </a:r>
          </a:p>
        </p:txBody>
      </p:sp>
      <p:sp>
        <p:nvSpPr>
          <p:cNvPr id="17424" name="tech-formula">
            <a:extLst xmlns:a="http://schemas.openxmlformats.org/drawingml/2006/main">
              <a:ext uri="{FF2B5EF4-FFF2-40B4-BE49-F238E27FC236}">
                <a16:creationId xmlns:a16="http://schemas.microsoft.com/office/drawing/2014/main" id="{2692A511-2D1C-4893-8571-38127D96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91100"/>
            <a:ext cx="10572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7FC"/>
          </a:solidFill>
          <a:ln xmlns:a="http://schemas.openxmlformats.org/drawingml/2006/main" w="9525">
            <a:solidFill>
              <a:srgbClr val="BCD2E1"/>
            </a:solidFill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B4F86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Pattern + AST + dependency context + business criticality + quantum exposure  →  explainable prioritized risk</a:t>
            </a:r>
          </a:p>
        </p:txBody>
      </p:sp>
      <p:sp>
        <p:nvSpPr>
          <p:cNvPr id="17425" name="tech-surfaces-head">
            <a:extLst xmlns:a="http://schemas.openxmlformats.org/drawingml/2006/main">
              <a:ext uri="{FF2B5EF4-FFF2-40B4-BE49-F238E27FC236}">
                <a16:creationId xmlns:a16="http://schemas.microsoft.com/office/drawing/2014/main" id="{122BB1B1-99C2-4129-9B53-EB6E92A6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50545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ONE ENGINE • FOUR SURFACES</a:t>
            </a:r>
          </a:p>
        </p:txBody>
      </p:sp>
      <p:sp>
        <p:nvSpPr>
          <p:cNvPr id="17426" name="tech-surface-1">
            <a:extLst xmlns:a="http://schemas.openxmlformats.org/drawingml/2006/main">
              <a:ext uri="{FF2B5EF4-FFF2-40B4-BE49-F238E27FC236}">
                <a16:creationId xmlns:a16="http://schemas.microsoft.com/office/drawing/2014/main" id="{F2565BF1-38ED-4E34-BA93-9E66CD68E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743575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WEB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Portfolio governance</a:t>
            </a:r>
          </a:p>
        </p:txBody>
      </p:sp>
      <p:sp>
        <p:nvSpPr>
          <p:cNvPr id="17427" name="tech-surface-2">
            <a:extLst xmlns:a="http://schemas.openxmlformats.org/drawingml/2006/main">
              <a:ext uri="{FF2B5EF4-FFF2-40B4-BE49-F238E27FC236}">
                <a16:creationId xmlns:a16="http://schemas.microsoft.com/office/drawing/2014/main" id="{3AC7E928-4140-4E96-BC27-8AF1F55E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743575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7B5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7B5"/>
                </a:solidFill>
                <a:latin typeface="Arial"/>
                <a:ea typeface="Arial"/>
                <a:cs typeface="Arial"/>
              </a:rPr>
              <a:t>VS CODE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Inline developer prevention</a:t>
            </a:r>
          </a:p>
        </p:txBody>
      </p:sp>
      <p:sp>
        <p:nvSpPr>
          <p:cNvPr id="17428" name="tech-surface-3">
            <a:extLst xmlns:a="http://schemas.openxmlformats.org/drawingml/2006/main">
              <a:ext uri="{FF2B5EF4-FFF2-40B4-BE49-F238E27FC236}">
                <a16:creationId xmlns:a16="http://schemas.microsoft.com/office/drawing/2014/main" id="{D8313484-A67F-415F-A8A0-4F29D513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43575"/>
            <a:ext cx="2381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CI/CD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Build-time policy gate</a:t>
            </a:r>
          </a:p>
        </p:txBody>
      </p:sp>
      <p:sp>
        <p:nvSpPr>
          <p:cNvPr id="17429" name="tech-surface-4">
            <a:extLst xmlns:a="http://schemas.openxmlformats.org/drawingml/2006/main">
              <a:ext uri="{FF2B5EF4-FFF2-40B4-BE49-F238E27FC236}">
                <a16:creationId xmlns:a16="http://schemas.microsoft.com/office/drawing/2014/main" id="{E6CAD103-1659-4753-9EF7-44667BBB5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743575"/>
            <a:ext cx="2571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API + REPORTS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Enterprise integration</a:t>
            </a:r>
          </a:p>
        </p:txBody>
      </p:sp>
    </p:spTree>
    <p:extLst>
      <p:ext uri="{BB962C8B-B14F-4D97-AF65-F5344CB8AC3E}">
        <p14:creationId xmlns:p14="http://schemas.microsoft.com/office/powerpoint/2010/main" val="11250935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3FBED600-2201-4B9A-B4B3-9087C049059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0"/>
            <a:ext cx="10972800" cy="10953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FEASIBILITY AND VIABILITY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238B75EA-A31E-4359-9AC9-1E20BC132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8B04C38-4099-4C04-9350-32F43FBA442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F845C21-B500-4F94-92C4-C024A45F235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</a:t>
            </a:r>
            <a:endParaRPr/>
          </a:p>
        </p:txBody>
      </p:sp>
      <p:pic>
        <p:nvPicPr>
          <p:cNvPr id="17432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f737db3f8f49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feasibility-subtitle">
            <a:extLst xmlns:a="http://schemas.openxmlformats.org/drawingml/2006/main">
              <a:ext uri="{FF2B5EF4-FFF2-40B4-BE49-F238E27FC236}">
                <a16:creationId xmlns:a16="http://schemas.microsoft.com/office/drawing/2014/main" id="{91DDACBD-9BB0-4E3E-B444-208E788E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0490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B4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A controlled MVP proves the complete repository → intelligence → migration workflow</a:t>
            </a:r>
          </a:p>
        </p:txBody>
      </p:sp>
      <p:sp>
        <p:nvSpPr>
          <p:cNvPr id="17413" name="feasible-mvp">
            <a:extLst xmlns:a="http://schemas.openxmlformats.org/drawingml/2006/main">
              <a:ext uri="{FF2B5EF4-FFF2-40B4-BE49-F238E27FC236}">
                <a16:creationId xmlns:a16="http://schemas.microsoft.com/office/drawing/2014/main" id="{0415266F-3E4F-4BE1-B38D-63E269F39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3381375" cy="22098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HACKATHON-FEASIBLE MVP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Python, Java and JavaScript/TypeScript repositories.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Repository, ZIP, certificate and authorized-domain inputs.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25+ curated crypto rules with file-and-line evidence.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Working CBOM, dependency graph, score and report.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Web dashboard connected to a VS Code extension.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Controlled sample repositories provide measurable ground truth.</a:t>
            </a:r>
          </a:p>
        </p:txBody>
      </p:sp>
      <p:sp>
        <p:nvSpPr>
          <p:cNvPr id="17414" name="feasible-security">
            <a:extLst xmlns:a="http://schemas.openxmlformats.org/drawingml/2006/main">
              <a:ext uri="{FF2B5EF4-FFF2-40B4-BE49-F238E27FC236}">
                <a16:creationId xmlns:a16="http://schemas.microsoft.com/office/drawing/2014/main" id="{F3203D73-1279-4AC0-A50E-E08018777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676400"/>
            <a:ext cx="3381375" cy="22098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A7D8BE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SECURITY BY DESIGN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Read-only, explicitly authorized repository access.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Isolated Docker scan; repository code is never executed.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Temporary files deleted automatically after analysis.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Secrets masked; private keys and plaintext credentials never stored.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HTTPS, RBAC, tenant isolation and audit logs.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Repository tokens remain encrypted and minimum-scope.</a:t>
            </a:r>
          </a:p>
        </p:txBody>
      </p:sp>
      <p:sp>
        <p:nvSpPr>
          <p:cNvPr id="17415" name="feasible-risks">
            <a:extLst xmlns:a="http://schemas.openxmlformats.org/drawingml/2006/main">
              <a:ext uri="{FF2B5EF4-FFF2-40B4-BE49-F238E27FC236}">
                <a16:creationId xmlns:a16="http://schemas.microsoft.com/office/drawing/2014/main" id="{32642C10-7E96-4FE1-8101-6E81FEC0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76400"/>
            <a:ext cx="3667125" cy="22098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11430">
            <a:solidFill>
              <a:srgbClr val="F4C77B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RISK → MITIGATION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False positives → AST/context validation + confidence score.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Language diversity → plug-in language adapters.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Large repositories → incremental background scanning.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Sensitive evidence → minimum storage, masking and access control.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Unsafe auto-fix → standards mapping with human approval.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9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90">
                <a:solidFill>
                  <a:srgbClr val="17212B"/>
                </a:solidFill>
                <a:latin typeface="Arial"/>
                <a:ea typeface="Arial"/>
                <a:cs typeface="Arial"/>
              </a:rPr>
              <a:t>Tool adoption → developer extension plus executive dashboard.</a:t>
            </a:r>
          </a:p>
        </p:txBody>
      </p:sp>
      <p:sp>
        <p:nvSpPr>
          <p:cNvPr id="17416" name="proof-arrow-1">
            <a:extLst xmlns:a="http://schemas.openxmlformats.org/drawingml/2006/main">
              <a:ext uri="{FF2B5EF4-FFF2-40B4-BE49-F238E27FC236}">
                <a16:creationId xmlns:a16="http://schemas.microsoft.com/office/drawing/2014/main" id="{9B58A108-E1FE-4E3E-9196-398A001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195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7" name="proof-arrow-2">
            <a:extLst xmlns:a="http://schemas.openxmlformats.org/drawingml/2006/main">
              <a:ext uri="{FF2B5EF4-FFF2-40B4-BE49-F238E27FC236}">
                <a16:creationId xmlns:a16="http://schemas.microsoft.com/office/drawing/2014/main" id="{62847333-3827-4485-9F3C-9067DF28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195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8" name="proof-arrow-3">
            <a:extLst xmlns:a="http://schemas.openxmlformats.org/drawingml/2006/main">
              <a:ext uri="{FF2B5EF4-FFF2-40B4-BE49-F238E27FC236}">
                <a16:creationId xmlns:a16="http://schemas.microsoft.com/office/drawing/2014/main" id="{799AFFE2-96C4-4AA3-8D25-78C2ADF21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9575"/>
            <a:ext cx="3048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9" name="proof-step-1">
            <a:extLst xmlns:a="http://schemas.openxmlformats.org/drawingml/2006/main">
              <a:ext uri="{FF2B5EF4-FFF2-40B4-BE49-F238E27FC236}">
                <a16:creationId xmlns:a16="http://schemas.microsoft.com/office/drawing/2014/main" id="{3152CFBE-420F-4059-A257-DFE2164F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29075"/>
            <a:ext cx="2238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SCAN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Authorized asset</a:t>
            </a:r>
          </a:p>
        </p:txBody>
      </p:sp>
      <p:sp>
        <p:nvSpPr>
          <p:cNvPr id="17420" name="proof-step-2">
            <a:extLst xmlns:a="http://schemas.openxmlformats.org/drawingml/2006/main">
              <a:ext uri="{FF2B5EF4-FFF2-40B4-BE49-F238E27FC236}">
                <a16:creationId xmlns:a16="http://schemas.microsoft.com/office/drawing/2014/main" id="{06061EE6-1C25-45B7-BF6C-5FF5268C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029075"/>
            <a:ext cx="2238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7B5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7B5"/>
                </a:solidFill>
                <a:latin typeface="Arial"/>
                <a:ea typeface="Arial"/>
                <a:cs typeface="Arial"/>
              </a:rPr>
              <a:t>VERIFY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Evidence + confidence</a:t>
            </a:r>
          </a:p>
        </p:txBody>
      </p:sp>
      <p:sp>
        <p:nvSpPr>
          <p:cNvPr id="17421" name="proof-step-3">
            <a:extLst xmlns:a="http://schemas.openxmlformats.org/drawingml/2006/main">
              <a:ext uri="{FF2B5EF4-FFF2-40B4-BE49-F238E27FC236}">
                <a16:creationId xmlns:a16="http://schemas.microsoft.com/office/drawing/2014/main" id="{723A1675-32BF-491D-8833-EA3E4ABF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29075"/>
            <a:ext cx="22383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MODEL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CBOM + graph</a:t>
            </a:r>
          </a:p>
        </p:txBody>
      </p:sp>
      <p:sp>
        <p:nvSpPr>
          <p:cNvPr id="17422" name="proof-step-4">
            <a:extLst xmlns:a="http://schemas.openxmlformats.org/drawingml/2006/main">
              <a:ext uri="{FF2B5EF4-FFF2-40B4-BE49-F238E27FC236}">
                <a16:creationId xmlns:a16="http://schemas.microsoft.com/office/drawing/2014/main" id="{1A0C0CCF-646A-49EF-A11D-453C5FE03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029075"/>
            <a:ext cx="271462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DECIDE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Score + roadmap</a:t>
            </a:r>
          </a:p>
        </p:txBody>
      </p:sp>
      <p:sp>
        <p:nvSpPr>
          <p:cNvPr id="17423" name="viability-band">
            <a:extLst xmlns:a="http://schemas.openxmlformats.org/drawingml/2006/main">
              <a:ext uri="{FF2B5EF4-FFF2-40B4-BE49-F238E27FC236}">
                <a16:creationId xmlns:a16="http://schemas.microsoft.com/office/drawing/2014/main" id="{810513C3-8EC4-4025-BEC3-6EDB2A03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81550"/>
            <a:ext cx="10906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C"/>
          </a:solidFill>
          <a:ln xmlns:a="http://schemas.openxmlformats.org/drawingml/2006/main" w="9525">
            <a:solidFill>
              <a:srgbClr val="BCD2E1"/>
            </a:solidFill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0B4F86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VIABILITY  •  Modular APIs  •  Open standards  •  CI/CD-ready architecture  •  Scales from one repository to an enterprise portfolio</a:t>
            </a:r>
          </a:p>
        </p:txBody>
      </p:sp>
      <p:sp>
        <p:nvSpPr>
          <p:cNvPr id="17424" name="deploy-flex">
            <a:extLst xmlns:a="http://schemas.openxmlformats.org/drawingml/2006/main">
              <a:ext uri="{FF2B5EF4-FFF2-40B4-BE49-F238E27FC236}">
                <a16:creationId xmlns:a16="http://schemas.microsoft.com/office/drawing/2014/main" id="{63E49C65-978F-46B0-B253-F3223498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38775"/>
            <a:ext cx="52863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DEPLOYMENT FLEXIBILITY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Private cloud • VPC • On-premises</a:t>
            </a:r>
          </a:p>
        </p:txBody>
      </p:sp>
      <p:sp>
        <p:nvSpPr>
          <p:cNvPr id="17425" name="business-path">
            <a:extLst xmlns:a="http://schemas.openxmlformats.org/drawingml/2006/main">
              <a:ext uri="{FF2B5EF4-FFF2-40B4-BE49-F238E27FC236}">
                <a16:creationId xmlns:a16="http://schemas.microsoft.com/office/drawing/2014/main" id="{3B9BFFB3-20A3-46FB-A617-6663A7AF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38775"/>
            <a:ext cx="5334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ADOPTION &amp; BUSINESS VIABILITY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Web dashboard + VS Code + APIs • phased portfolio rollout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87E44FDB-0D82-4FE0-A03D-344955B542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0"/>
            <a:ext cx="10972800" cy="10953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BA6C8DA5-C4C9-41EE-A948-E68735DC3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13849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 b="0" i="0" u="none" cap="none" spc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3E26F8E-572C-41F8-8A63-9EF0D75692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FB11B902-08C4-4481-BAF2-D48AF2F06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</a:t>
            </a:r>
            <a:endParaRPr/>
          </a:p>
        </p:txBody>
      </p:sp>
      <p:pic>
        <p:nvPicPr>
          <p:cNvPr id="17431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dab32aada4a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impact-subtitle">
            <a:extLst xmlns:a="http://schemas.openxmlformats.org/drawingml/2006/main">
              <a:ext uri="{FF2B5EF4-FFF2-40B4-BE49-F238E27FC236}">
                <a16:creationId xmlns:a16="http://schemas.microsoft.com/office/drawing/2014/main" id="{FBEBDD6E-4038-4B8A-B049-24437386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1">
                <a:solidFill>
                  <a:srgbClr val="0B4F8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One cryptographic source of truth for developers, security teams, auditors and decision-makers</a:t>
            </a:r>
          </a:p>
        </p:txBody>
      </p:sp>
      <p:sp>
        <p:nvSpPr>
          <p:cNvPr id="17413" name="impact-developer">
            <a:extLst xmlns:a="http://schemas.openxmlformats.org/drawingml/2006/main">
              <a:ext uri="{FF2B5EF4-FFF2-40B4-BE49-F238E27FC236}">
                <a16:creationId xmlns:a16="http://schemas.microsoft.com/office/drawing/2014/main" id="{5FAD9514-3C1B-4CB2-8B33-CE6BD9AC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3333750" cy="196215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DEVELOPERS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Inline VS Code warnings.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Context-aware safer alternatives.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Prevent risks before deployment.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File-and-line evidence with confidence.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Shared rules across IDE and CI/CD.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Open every finding in the web dashboard.</a:t>
            </a:r>
          </a:p>
        </p:txBody>
      </p:sp>
      <p:sp>
        <p:nvSpPr>
          <p:cNvPr id="17414" name="impact-security">
            <a:extLst xmlns:a="http://schemas.openxmlformats.org/drawingml/2006/main">
              <a:ext uri="{FF2B5EF4-FFF2-40B4-BE49-F238E27FC236}">
                <a16:creationId xmlns:a16="http://schemas.microsoft.com/office/drawing/2014/main" id="{34F50C9B-6EA4-43C9-B27B-62BE4DDF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76400"/>
            <a:ext cx="3333750" cy="196215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SECURITY &amp; AUDIT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Unified crypto inventory and ownership.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CBOM, evidence and certificate visibility.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Prioritized remediation instead of alert overload.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Ownership and dependency-aware triage.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Exportable evidence for review and audit.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Track remediation across projects and teams.</a:t>
            </a:r>
          </a:p>
        </p:txBody>
      </p:sp>
      <p:sp>
        <p:nvSpPr>
          <p:cNvPr id="17415" name="impact-leaders">
            <a:extLst xmlns:a="http://schemas.openxmlformats.org/drawingml/2006/main">
              <a:ext uri="{FF2B5EF4-FFF2-40B4-BE49-F238E27FC236}">
                <a16:creationId xmlns:a16="http://schemas.microsoft.com/office/drawing/2014/main" id="{F4E7B126-73CD-498D-A3A0-742F694A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76400"/>
            <a:ext cx="3571875" cy="1962150"/>
          </a:xfrm>
          <a:prstGeom xmlns:a="http://schemas.openxmlformats.org/drawingml/2006/main" prst="roundRect">
            <a:avLst>
              <a:gd name="adj" fmla="val 4854"/>
            </a:avLst>
          </a:prstGeom>
          <a:solidFill xmlns:a="http://schemas.openxmlformats.org/drawingml/2006/main">
            <a:srgbClr val="F0FAF5"/>
          </a:solidFill>
          <a:ln xmlns:a="http://schemas.openxmlformats.org/drawingml/2006/main" w="11430">
            <a:solidFill>
              <a:srgbClr val="A7D8BE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LEADERSHIP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Organization-wide readiness view.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Business-impact-aware migration planning.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Measurable progress toward crypto agility.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Risk trends across teams and projects.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Roadmap for phased quantum readiness.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1035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035">
                <a:solidFill>
                  <a:srgbClr val="17212B"/>
                </a:solidFill>
                <a:latin typeface="Arial"/>
                <a:ea typeface="Arial"/>
                <a:cs typeface="Arial"/>
              </a:rPr>
              <a:t>Portfolio score and migration milestones.</a:t>
            </a:r>
          </a:p>
        </p:txBody>
      </p:sp>
      <p:sp>
        <p:nvSpPr>
          <p:cNvPr id="17416" name="impact-benefits-head">
            <a:extLst xmlns:a="http://schemas.openxmlformats.org/drawingml/2006/main">
              <a:ext uri="{FF2B5EF4-FFF2-40B4-BE49-F238E27FC236}">
                <a16:creationId xmlns:a16="http://schemas.microsoft.com/office/drawing/2014/main" id="{D74BC7CD-9117-4922-B9A9-A2637206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52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F28C2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CORE BENEFITS</a:t>
            </a:r>
          </a:p>
        </p:txBody>
      </p:sp>
      <p:sp>
        <p:nvSpPr>
          <p:cNvPr id="17417" name="impact-benefits">
            <a:extLst xmlns:a="http://schemas.openxmlformats.org/drawingml/2006/main">
              <a:ext uri="{FF2B5EF4-FFF2-40B4-BE49-F238E27FC236}">
                <a16:creationId xmlns:a16="http://schemas.microsoft.com/office/drawing/2014/main" id="{E2FCA766-77B8-44E8-B6CE-23ADFCB5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19550"/>
            <a:ext cx="109061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A"/>
          </a:solidFill>
          <a:ln xmlns:a="http://schemas.openxmlformats.org/drawingml/2006/main" w="9525">
            <a:solidFill>
              <a:srgbClr val="F4C77B"/>
            </a:solidFill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63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Faster audits  •  Less undocumented cryptography  •  Early certificate-risk detection  •  Safer dependency-aware migration  •  Shared evidence across teams</a:t>
            </a:r>
          </a:p>
        </p:txBody>
      </p:sp>
      <p:sp>
        <p:nvSpPr>
          <p:cNvPr id="17418" name="impact-target-head">
            <a:extLst xmlns:a="http://schemas.openxmlformats.org/drawingml/2006/main">
              <a:ext uri="{FF2B5EF4-FFF2-40B4-BE49-F238E27FC236}">
                <a16:creationId xmlns:a16="http://schemas.microsoft.com/office/drawing/2014/main" id="{2042F7D9-D6A5-489C-9538-91E7A200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76775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t">
            <a:normAutofit fontScale="931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0B4F8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MEASURABLE HACKATHON PROOF</a:t>
            </a:r>
          </a:p>
        </p:txBody>
      </p:sp>
      <p:sp>
        <p:nvSpPr>
          <p:cNvPr id="17419" name="impact-kpi-1">
            <a:extLst xmlns:a="http://schemas.openxmlformats.org/drawingml/2006/main">
              <a:ext uri="{FF2B5EF4-FFF2-40B4-BE49-F238E27FC236}">
                <a16:creationId xmlns:a16="http://schemas.microsoft.com/office/drawing/2014/main" id="{4F450C6A-295D-4241-B853-741AB9A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62525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Language ecosystems</a:t>
            </a:r>
          </a:p>
        </p:txBody>
      </p:sp>
      <p:sp>
        <p:nvSpPr>
          <p:cNvPr id="17420" name="impact-kpi-2">
            <a:extLst xmlns:a="http://schemas.openxmlformats.org/drawingml/2006/main">
              <a:ext uri="{FF2B5EF4-FFF2-40B4-BE49-F238E27FC236}">
                <a16:creationId xmlns:a16="http://schemas.microsoft.com/office/drawing/2014/main" id="{42837119-C8C5-4624-A0CA-AE96F524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62525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7B5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7B5"/>
                </a:solidFill>
                <a:latin typeface="Arial"/>
                <a:ea typeface="Arial"/>
                <a:cs typeface="Arial"/>
              </a:rPr>
              <a:t>25+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Curated crypto patterns</a:t>
            </a:r>
          </a:p>
        </p:txBody>
      </p:sp>
      <p:sp>
        <p:nvSpPr>
          <p:cNvPr id="17421" name="impact-kpi-3">
            <a:extLst xmlns:a="http://schemas.openxmlformats.org/drawingml/2006/main">
              <a:ext uri="{FF2B5EF4-FFF2-40B4-BE49-F238E27FC236}">
                <a16:creationId xmlns:a16="http://schemas.microsoft.com/office/drawing/2014/main" id="{5795E0D2-EF49-48F1-A8BD-7EC30008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62525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FILE + LINE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Explainable evidence</a:t>
            </a:r>
          </a:p>
        </p:txBody>
      </p:sp>
      <p:sp>
        <p:nvSpPr>
          <p:cNvPr id="17422" name="impact-kpi-4">
            <a:extLst xmlns:a="http://schemas.openxmlformats.org/drawingml/2006/main">
              <a:ext uri="{FF2B5EF4-FFF2-40B4-BE49-F238E27FC236}">
                <a16:creationId xmlns:a16="http://schemas.microsoft.com/office/drawing/2014/main" id="{1A44D24D-919A-4A5D-A310-28EC4BE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62525"/>
            <a:ext cx="1905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CBOM + GRAPH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Connected inventory</a:t>
            </a:r>
          </a:p>
        </p:txBody>
      </p:sp>
      <p:sp>
        <p:nvSpPr>
          <p:cNvPr id="17423" name="impact-kpi-5">
            <a:extLst xmlns:a="http://schemas.openxmlformats.org/drawingml/2006/main">
              <a:ext uri="{FF2B5EF4-FFF2-40B4-BE49-F238E27FC236}">
                <a16:creationId xmlns:a16="http://schemas.microsoft.com/office/drawing/2014/main" id="{C5926566-7D1B-436D-83E1-F3541F81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62525"/>
            <a:ext cx="2524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≤ 60 SEC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Target demo scan</a:t>
            </a:r>
          </a:p>
        </p:txBody>
      </p:sp>
      <p:sp>
        <p:nvSpPr>
          <p:cNvPr id="17424" name="impact-sectors">
            <a:extLst xmlns:a="http://schemas.openxmlformats.org/drawingml/2006/main">
              <a:ext uri="{FF2B5EF4-FFF2-40B4-BE49-F238E27FC236}">
                <a16:creationId xmlns:a16="http://schemas.microsoft.com/office/drawing/2014/main" id="{CD2C7B19-9D21-4470-AD95-2506E4F1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43575"/>
            <a:ext cx="10906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D"/>
          </a:solidFill>
          <a:ln xmlns:a="http://schemas.openxmlformats.org/drawingml/2006/main" w="9525">
            <a:solidFill>
              <a:srgbClr val="BCD2E1"/>
            </a:solidFill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013" b="1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13" b="1">
                <a:solidFill>
                  <a:srgbClr val="526170"/>
                </a:solidFill>
                <a:latin typeface="Arial"/>
                <a:ea typeface="Arial"/>
                <a:cs typeface="Arial"/>
              </a:rPr>
              <a:t>TARGET SECTORS  •  Government  •  Defence  •  Banking  •  Healthcare  •  Telecom  •  IT Enterprises  •  E-commerce  •  Research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54762"/>
            <a:ext cx="12191999" cy="503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C0"/>
          </a:solidFill>
          <a:ln xmlns:a="http://schemas.openxmlformats.org/drawingml/2006/main" w="9525">
            <a:noFill/>
          </a:ln>
          <a:effectLst xmlns:a="http://schemas.openxmlformats.org/drawingml/2006/main"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1200" cap="none" spc="0" baseline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1C71DB3-8FB4-4CC6-8B70-4438B851F2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0"/>
            <a:ext cx="10972800" cy="10953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RESEARCH  AND 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0E556A9C-AA56-46D7-8341-725ADBA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5263"/>
            <a:ext cx="9385300" cy="523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800">
                <a:solidFill>
                  <a:prstClr val="black"/>
                </a:solidFill>
                <a:latin typeface="Arial"/>
                <a:ea typeface="Arial"/>
                <a:cs typeface="Arial"/>
              </a:rPr>
              <a:t/>
            </a:r>
            <a:endParaRPr sz="2800" b="0" i="0" u="non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FA2FFB7-4576-4034-BF54-2E1AB935E2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6</a:t>
            </a:fld>
            <a:endParaRPr sz="1200" b="1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0479698-0AE1-4973-B773-601DC82242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DBCE864-823D-4A13-9607-5DA1F0ED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773" y="252246"/>
            <a:ext cx="1251857" cy="807334"/>
          </a:xfrm>
          <a:prstGeom xmlns:a="http://schemas.openxmlformats.org/drawingml/2006/main" prst="ellipse">
            <a:avLst/>
          </a:prstGeom>
        </p:spPr>
        <p:style>
          <a:lnRef xmlns:a="http://schemas.openxmlformats.org/drawingml/2006/main" idx="2">
            <a:schemeClr val="accent4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4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TEAM</a:t>
            </a:r>
            <a:endParaRPr/>
          </a:p>
          <a:p xmlns:a="http://schemas.openxmlformats.org/drawingml/2006/main">
            <a:pPr algn="ctr">
              <a:buNone/>
              <a:defRPr sz="900" b="1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NAME</a:t>
            </a:r>
            <a:endParaRPr/>
          </a:p>
        </p:txBody>
      </p:sp>
      <p:pic>
        <p:nvPicPr>
          <p:cNvPr id="1742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2b7d351c748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0086" y="1500"/>
            <a:ext cx="2249850" cy="1062337"/>
          </a:xfrm>
          <a:prstGeom xmlns:a="http://schemas.openxmlformats.org/drawingml/2006/main" prst="rect">
            <a:avLst/>
          </a:prstGeom>
        </p:spPr>
      </p:pic>
      <p:sp>
        <p:nvSpPr>
          <p:cNvPr id="17412" name="research-subtitle">
            <a:extLst xmlns:a="http://schemas.openxmlformats.org/drawingml/2006/main">
              <a:ext uri="{FF2B5EF4-FFF2-40B4-BE49-F238E27FC236}">
                <a16:creationId xmlns:a16="http://schemas.microsoft.com/office/drawing/2014/main" id="{41BF99AD-812A-4EC0-94F4-9AE1D184B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425" b="1">
                <a:solidFill>
                  <a:srgbClr val="0B4F8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Built on authoritative PQC guidance, secure-development practices and interoperable CBOM standards</a:t>
            </a:r>
          </a:p>
        </p:txBody>
      </p:sp>
      <p:sp>
        <p:nvSpPr>
          <p:cNvPr id="17413" name="research-standards">
            <a:extLst xmlns:a="http://schemas.openxmlformats.org/drawingml/2006/main">
              <a:ext uri="{FF2B5EF4-FFF2-40B4-BE49-F238E27FC236}">
                <a16:creationId xmlns:a16="http://schemas.microsoft.com/office/drawing/2014/main" id="{3A2C9447-99C4-4164-A0C7-68FA23AE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5381625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F6FAFD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RESEARCH FOUNDATION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NIST PQC: FIPS 203 (ML-KEM), FIPS 204 (ML-DSA), FIPS 205 (SLH-DSA).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NIST NCCoE: cryptographic discovery and post-quantum migration planning.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CISA: quantum-readiness and cryptographic inventory guidance.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CycloneDX: machine-readable Cryptographic Bill of Materials.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OWASP: secure cryptographic storage and implementation practices.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NIST CSF 2.0: asset identification, governance and cybersecurity risk management.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Research focus: crypto agility, dependency awareness and explainable prioritization.</a:t>
            </a:r>
          </a:p>
        </p:txBody>
      </p:sp>
      <p:sp>
        <p:nvSpPr>
          <p:cNvPr id="17414" name="research-tools">
            <a:extLst xmlns:a="http://schemas.openxmlformats.org/drawingml/2006/main">
              <a:ext uri="{FF2B5EF4-FFF2-40B4-BE49-F238E27FC236}">
                <a16:creationId xmlns:a16="http://schemas.microsoft.com/office/drawing/2014/main" id="{2D598065-C88A-4FFD-8FA3-25C48D14B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76400"/>
            <a:ext cx="5334000" cy="2076450"/>
          </a:xfrm>
          <a:prstGeom xmlns:a="http://schemas.openxmlformats.org/drawingml/2006/main" prst="roundRect">
            <a:avLst>
              <a:gd name="adj" fmla="val 4587"/>
            </a:avLst>
          </a:prstGeom>
          <a:solidFill xmlns:a="http://schemas.openxmlformats.org/drawingml/2006/main">
            <a:srgbClr val="EAF5FC"/>
          </a:solidFill>
          <a:ln xmlns:a="http://schemas.openxmlformats.org/drawingml/2006/main" w="11430">
            <a:solidFill>
              <a:srgbClr val="BCD2E1"/>
            </a:solidFill>
            <a:prstDash val="solid"/>
          </a:ln>
        </p:spPr>
        <p:txBody>
          <a:bodyPr xmlns:a="http://schemas.openxmlformats.org/drawingml/2006/main" lIns="95250" tIns="85725" rIns="95250" bIns="66675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 b="1">
                <a:solidFill>
                  <a:srgbClr val="17212B"/>
                </a:solidFill>
                <a:latin typeface="Arial"/>
                <a:ea typeface="Arial"/>
                <a:cs typeface="Arial"/>
              </a:rPr>
              <a:t>TOOLS &amp; MARKET STUDY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Semgrep/Tree-sitter — source and syntax analysis.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Gitleaks/Trivy — secrets and dependency findings.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OpenSSL — certificate and TLS inspection.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Existing categories studied: SAST, SCA, secret scanning and certificate lifecycle tools.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Observed gap: results remain isolated and lack business-aware PQC migration sequencing.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Evaluation: seeded secure/insecure repositories provide known expected findings.</a:t>
            </a:r>
          </a:p>
          <a:p xmlns:a="http://schemas.openxmlformats.org/drawingml/2006/main">
            <a:pPr marL="16" indent="-9">
              <a:spcBef>
                <a:spcPts val="2"/>
              </a:spcBef>
              <a:spcAft>
                <a:spcPts val="2"/>
              </a:spcAft>
              <a:buChar char="•"/>
              <a:defRPr sz="953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953">
                <a:solidFill>
                  <a:srgbClr val="17212B"/>
                </a:solidFill>
                <a:latin typeface="Arial"/>
                <a:ea typeface="Arial"/>
                <a:cs typeface="Arial"/>
              </a:rPr>
              <a:t>Metrics: precision, recall, false-positive rate, coverage and scan time.</a:t>
            </a:r>
          </a:p>
        </p:txBody>
      </p:sp>
      <p:sp>
        <p:nvSpPr>
          <p:cNvPr id="17415" name="research-arrow-1">
            <a:extLst xmlns:a="http://schemas.openxmlformats.org/drawingml/2006/main">
              <a:ext uri="{FF2B5EF4-FFF2-40B4-BE49-F238E27FC236}">
                <a16:creationId xmlns:a16="http://schemas.microsoft.com/office/drawing/2014/main" id="{EAC663F1-AB99-4CEA-9F20-FBF0BEF7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095750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6" name="research-arrow-2">
            <a:extLst xmlns:a="http://schemas.openxmlformats.org/drawingml/2006/main">
              <a:ext uri="{FF2B5EF4-FFF2-40B4-BE49-F238E27FC236}">
                <a16:creationId xmlns:a16="http://schemas.microsoft.com/office/drawing/2014/main" id="{C254AA51-0A50-410D-AAED-9C0C7B3A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95750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4763">
            <a:solidFill>
              <a:srgbClr val="F28C28"/>
            </a:solidFill>
            <a:prstDash val="solid"/>
          </a:ln>
        </p:spPr>
      </p:sp>
      <p:sp>
        <p:nvSpPr>
          <p:cNvPr id="17417" name="research-step-1">
            <a:extLst xmlns:a="http://schemas.openxmlformats.org/drawingml/2006/main">
              <a:ext uri="{FF2B5EF4-FFF2-40B4-BE49-F238E27FC236}">
                <a16:creationId xmlns:a16="http://schemas.microsoft.com/office/drawing/2014/main" id="{8FA92B55-A6B4-4027-8CB3-8C430EE1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27146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B4F86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AUTHORITATIVE GUIDANCE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NIST • NCCoE • CISA</a:t>
            </a:r>
          </a:p>
        </p:txBody>
      </p:sp>
      <p:sp>
        <p:nvSpPr>
          <p:cNvPr id="17418" name="research-step-2">
            <a:extLst xmlns:a="http://schemas.openxmlformats.org/drawingml/2006/main">
              <a:ext uri="{FF2B5EF4-FFF2-40B4-BE49-F238E27FC236}">
                <a16:creationId xmlns:a16="http://schemas.microsoft.com/office/drawing/2014/main" id="{620855AF-2B21-46E1-B67C-44603B98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3286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A7B5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7B5"/>
                </a:solidFill>
                <a:latin typeface="Arial"/>
                <a:ea typeface="Arial"/>
                <a:cs typeface="Arial"/>
              </a:rPr>
              <a:t>INTEROPERABLE INVENTORY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CycloneDX CBOM • dependencies</a:t>
            </a:r>
          </a:p>
        </p:txBody>
      </p:sp>
      <p:sp>
        <p:nvSpPr>
          <p:cNvPr id="17419" name="research-step-3">
            <a:extLst xmlns:a="http://schemas.openxmlformats.org/drawingml/2006/main">
              <a:ext uri="{FF2B5EF4-FFF2-40B4-BE49-F238E27FC236}">
                <a16:creationId xmlns:a16="http://schemas.microsoft.com/office/drawing/2014/main" id="{67CA682A-BA8A-453D-B42F-9E5A53FD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2905125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8B57"/>
            </a:solidFill>
            <a:prstDash val="solid"/>
          </a:ln>
        </p:spPr>
        <p:txBody>
          <a:bodyPr xmlns:a="http://schemas.openxmlformats.org/drawingml/2006/main" lIns="38100" tIns="28575" rIns="38100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E8B57"/>
                </a:solidFill>
                <a:latin typeface="Arial"/>
                <a:ea typeface="Arial"/>
                <a:cs typeface="Arial"/>
              </a:rPr>
              <a:t>MEASURABLE VALIDATION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26170"/>
                </a:solidFill>
                <a:latin typeface="Arial"/>
                <a:ea typeface="Arial"/>
                <a:cs typeface="Arial"/>
              </a:rPr>
              <a:t>Precision • recall • coverage • time</a:t>
            </a:r>
          </a:p>
        </p:txBody>
      </p:sp>
      <p:sp>
        <p:nvSpPr>
          <p:cNvPr id="17420" name="research-gap">
            <a:extLst xmlns:a="http://schemas.openxmlformats.org/drawingml/2006/main">
              <a:ext uri="{FF2B5EF4-FFF2-40B4-BE49-F238E27FC236}">
                <a16:creationId xmlns:a16="http://schemas.microsoft.com/office/drawing/2014/main" id="{88D2096F-C5BB-4FDF-9B42-2D93BB1B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05350"/>
            <a:ext cx="10906125" cy="1066800"/>
          </a:xfrm>
          <a:prstGeom xmlns:a="http://schemas.openxmlformats.org/drawingml/2006/main" prst="roundRect">
            <a:avLst>
              <a:gd name="adj" fmla="val 8036"/>
            </a:avLst>
          </a:prstGeom>
          <a:solidFill xmlns:a="http://schemas.openxmlformats.org/drawingml/2006/main">
            <a:srgbClr val="FFF7EA"/>
          </a:solidFill>
          <a:ln xmlns:a="http://schemas.openxmlformats.org/drawingml/2006/main" w="14288">
            <a:solidFill>
              <a:srgbClr val="F28C28"/>
            </a:solidFill>
            <a:prstDash val="solid"/>
          </a:ln>
        </p:spPr>
        <p:txBody>
          <a:bodyPr xmlns:a="http://schemas.openxmlformats.org/drawingml/2006/main" lIns="133350" tIns="85725" rIns="133350" bIns="857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28C28"/>
                </a:solidFill>
                <a:latin typeface="Arial"/>
                <a:ea typeface="Arial"/>
                <a:cs typeface="Arial"/>
              </a:rPr>
              <a:t>IDENTIFIED RESEARCH GAP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B4F86"/>
                </a:solidFill>
                <a:latin typeface="Arial"/>
                <a:ea typeface="Arial"/>
                <a:cs typeface="Arial"/>
              </a:rPr>
              <a:t>No single workflow combines discovery + CBOM + dependency intelligence + developer prevention + explainable quantum-risk prioritization + migration planning.</a:t>
            </a:r>
          </a:p>
        </p:txBody>
      </p:sp>
      <p:sp>
        <p:nvSpPr>
          <p:cNvPr id="17421" name="research-links">
            <a:extLst xmlns:a="http://schemas.openxmlformats.org/drawingml/2006/main">
              <a:ext uri="{FF2B5EF4-FFF2-40B4-BE49-F238E27FC236}">
                <a16:creationId xmlns:a16="http://schemas.microsoft.com/office/drawing/2014/main" id="{54E0446E-5750-4B79-917D-6CA9D7E2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85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38100" rIns="47625" bIns="285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863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863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NIST PQC: csrc.nist.gov/projects/post-quantum-cryptography   |   CISA: cisa.gov/quantum   |   CycloneDX: cyclonedx.org/capabilities/cbom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2026-09-04T15:01:07.5650000Z</dcterms:created>
  <dcterms:modified xsi:type="dcterms:W3CDTF">2026-09-04T15:01:07.5650000Z</dcterms:modified>
</coreProperties>
</file>